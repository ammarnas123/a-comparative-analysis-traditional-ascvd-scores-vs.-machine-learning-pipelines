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A7D6C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178040" y="5486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8229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10-Year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148132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Risk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21762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3200400" cy="36576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90779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Analysis: Traditional ASCVD Scores vs. Machine Learning Pipelines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Science  ·  Capstone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Clinical Context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097280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Reality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627632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(CVD) is the leading global cause of mortality, claiming millions of lives annually.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450592"/>
            <a:ext cx="8229600" cy="109728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50592"/>
            <a:ext cx="54864" cy="1097280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34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542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of Traditional Tools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2889504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Framingham Risk Score &amp; ASCVD rely on linear assumptions, producing false positives for healthy patients and missing non-linear clinical interactions.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712464"/>
            <a:ext cx="8229600" cy="109728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712464"/>
            <a:ext cx="54864" cy="1097280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95344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80390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Objective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4151376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10-year longitudinal data to map the true deviation of traditional risk scores and evaluate whether ML algorithms can achieve better clinical accuracy and recall.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EDA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128016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2651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46504"/>
            <a:ext cx="24688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Participants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00584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005840"/>
            <a:ext cx="2651760" cy="457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1115568"/>
            <a:ext cx="2651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47288" y="1746504"/>
            <a:ext cx="24688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CVD (Target Class)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100584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54496" y="1005840"/>
            <a:ext cx="2651760" cy="457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1115568"/>
            <a:ext cx="265176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45936" y="1746504"/>
            <a:ext cx="24688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397764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23160"/>
            <a:ext cx="54864" cy="242316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4871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28072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Framingham Heart Study Dataset — one of the most significant longitudinal cardiovascular studies, following participants in Framingham, Massachusetts over decades.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7033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TenYearCHD (Binary: 1 = developed CHD within 10 years)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423160"/>
            <a:ext cx="397764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423160"/>
            <a:ext cx="54864" cy="242316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0328" y="24871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0328" y="2807208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Only ~15% (644 patients) developed CVD — required specialized resampling (SMOTE)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include: Demographics, Behavioral (smoking), Medical History (BP meds, diabetes), and Clinical Metrics (cholesterol, BMI, glucose)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Preprocessing: KNN Imputation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15568"/>
            <a:ext cx="2651760" cy="96012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61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819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readings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115568"/>
            <a:ext cx="2651760" cy="96012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161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47288" y="15819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values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54496" y="1115568"/>
            <a:ext cx="2651760" cy="96012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161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45936" y="15819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inputs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804672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40280"/>
            <a:ext cx="54864" cy="804672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377440"/>
            <a:ext cx="502920" cy="502920"/>
          </a:xfrm>
          <a:prstGeom prst="oval">
            <a:avLst/>
          </a:prstGeom>
          <a:solidFill>
            <a:srgbClr val="0D9E8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31343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60604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first — prevents large-value variables (e.g., Glucose) from mathematically dominating KNN distance calculations.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36392"/>
            <a:ext cx="8229600" cy="804672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36392"/>
            <a:ext cx="54864" cy="804672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73552"/>
            <a:ext cx="502920" cy="502920"/>
          </a:xfrm>
          <a:prstGeom prst="oval">
            <a:avLst/>
          </a:prstGeom>
          <a:solidFill>
            <a:srgbClr val="0D9E8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320954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Neighbors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50215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 with a missing value is matched to their 5 most clinically similar neighbors (n_neighbors=5) based on all available features.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32504"/>
            <a:ext cx="8229600" cy="804672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32504"/>
            <a:ext cx="54864" cy="804672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4169664"/>
            <a:ext cx="502920" cy="502920"/>
          </a:xfrm>
          <a:prstGeom prst="oval">
            <a:avLst/>
          </a:prstGeom>
          <a:solidFill>
            <a:srgbClr val="0D9E8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410565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Values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3982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Glucose, Education, and Cholesterol values are predicted from neighbor physiology — preserving real medical distributions vs. inserting flat means.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Clinical Baseline (ASCVD / FRS)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128016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84048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38404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(Recall)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almost every sick patient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3840480" cy="457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15568"/>
            <a:ext cx="38404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15.28%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4,234 healthy patients as High-Risk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06040"/>
            <a:ext cx="54864" cy="114300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6791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Panicked Doctor Effect'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03580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risk probabilities calculated using Framingham Risk logistic coefficients. Threshold: &gt;15% probability → High Risk.
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statistically 'safe' (near-zero missed diagnoses), the 3,591 false alarms render it unusable in modern hospitals — causing resource waste and patient trauma.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establishes the benchmark our ML models must beat.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&amp; 70/30 Split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5760720" cy="77724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143000"/>
            <a:ext cx="2468880" cy="77724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 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0" y="1143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Test 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stratified split — models evaluated ONLY on unseen 30% test 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8229600" cy="768096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50008"/>
            <a:ext cx="54864" cy="768096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48716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0432" y="24140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0432" y="2706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patients never developed CVD. Standard algorithms exploit this by predicting 'Healthy' 100% of the time, inflating accuracy while missing all sick patients.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27832"/>
            <a:ext cx="8229600" cy="768096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227832"/>
            <a:ext cx="54864" cy="768096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36499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70432" y="3291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SMOTE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70432" y="3584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Over-sampling Technique applied only to training data. Mathematically synthesizes artificial 'sick' patient records — forcing models to learn true high-risk physiology.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4105656"/>
            <a:ext cx="8229600" cy="768096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4105656"/>
            <a:ext cx="54864" cy="768096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42816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70432" y="4169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70432" y="4462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ONLY to training set. Test set remains untouched to simulate real-world diagnostic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Baseline Testing: KNN &amp; Decision Trees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128016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24128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24128"/>
            <a:ext cx="54864" cy="182880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155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swept K = [3, 5, 7, 9, 11, 15]  ·  Optimal: K=5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37960" y="1115568"/>
            <a:ext cx="914400" cy="749808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1338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64.9%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571232" y="1115568"/>
            <a:ext cx="914400" cy="749808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71232" y="11338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1232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17373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Drastically reduced false alarms compared to ASCVD baseline, but missed approximately half of sick patients — insufficient recall for clinical safety screening.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108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" y="34381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via Cost-Complexity Pruning (Alpha)  ·  Optimal: α=0.005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3108960"/>
            <a:ext cx="914400" cy="749808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3474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71232" y="3108960"/>
            <a:ext cx="914400" cy="749808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71232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71232" y="3474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" y="37307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sacrificed overall accuracy to prioritize catching high-risk patients — the inverse of KNN. Alpha pruning prevented severe overfitting while retaining minority class sensitivity.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Ensembles &amp; Regression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61288"/>
            <a:ext cx="8229600" cy="1115568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61288"/>
            <a:ext cx="54864" cy="1115568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344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527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Standard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75564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used instead of SMOTE for direct coefficient interpretability. Most stable, middle-ground performer across all three metrics.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06440" y="1271016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1271016"/>
            <a:ext cx="77724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3441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06440" y="17282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75120" y="1271016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1271016"/>
            <a:ext cx="777240" cy="54864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3441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61.1%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7282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543800" y="1271016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43800" y="1271016"/>
            <a:ext cx="777240" cy="54864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3441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3800" y="17282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8229600" cy="1115568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423160"/>
            <a:ext cx="54864" cy="1115568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4963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27889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· Max Depth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3017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trees with depth restriction. Resistant to overfitting. Higher accuracy but lower recall — begins trading off patient safety for precision.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2532888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06440" y="2532888"/>
            <a:ext cx="77724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8" name="Text 26"/>
          <p:cNvSpPr/>
          <p:nvPr/>
        </p:nvSpPr>
        <p:spPr>
          <a:xfrm>
            <a:off x="580644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06440" y="2990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0" y="2532888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2532888"/>
            <a:ext cx="777240" cy="54864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2990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43800" y="2532888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43800" y="2532888"/>
            <a:ext cx="777240" cy="54864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36" name="Text 34"/>
          <p:cNvSpPr/>
          <p:nvPr/>
        </p:nvSpPr>
        <p:spPr>
          <a:xfrm>
            <a:off x="754380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79.6%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43800" y="2990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685032"/>
            <a:ext cx="8229600" cy="1115568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685032"/>
            <a:ext cx="54864" cy="1115568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37581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(GBM)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" y="40507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 Correction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" y="427939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corrects previous tree errors. Highest accuracy of this group, but recall collapses to 18% — a dangerous trade-off for clinical deployment.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06440" y="3794760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06440" y="3794760"/>
            <a:ext cx="777240" cy="54864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5" name="Text 43"/>
          <p:cNvSpPr/>
          <p:nvPr/>
        </p:nvSpPr>
        <p:spPr>
          <a:xfrm>
            <a:off x="5806440" y="38679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79.6%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806440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75120" y="3794760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75120" y="3794760"/>
            <a:ext cx="777240" cy="54864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38679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675120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543800" y="3794760"/>
            <a:ext cx="777240" cy="804672"/>
          </a:xfrm>
          <a:prstGeom prst="rect">
            <a:avLst/>
          </a:prstGeom>
          <a:solidFill>
            <a:srgbClr val="162A52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43800" y="3794760"/>
            <a:ext cx="777240" cy="54864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53" name="Text 51"/>
          <p:cNvSpPr/>
          <p:nvPr/>
        </p:nvSpPr>
        <p:spPr>
          <a:xfrm>
            <a:off x="7543800" y="38679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543800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128016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unlock accuracy limits, 4 new physiological markers were mathematically engineered that are difficult for basic ML models to deduce independently.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18488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18488"/>
            <a:ext cx="54864" cy="150876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28216"/>
            <a:ext cx="457200" cy="457200"/>
          </a:xfrm>
          <a:prstGeom prst="oval">
            <a:avLst/>
          </a:prstGeom>
          <a:solidFill>
            <a:srgbClr val="0D9E8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709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Pressure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sysBP − diaBP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" y="2295144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aortic stiffness. A widening pulse pressure reflects decreased elasticity of major arteries — a key cardiovascular risk marker.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82696"/>
            <a:ext cx="54864" cy="150876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392424"/>
            <a:ext cx="457200" cy="457200"/>
          </a:xfrm>
          <a:prstGeom prst="oval">
            <a:avLst/>
          </a:prstGeom>
          <a:solidFill>
            <a:srgbClr val="0D9E8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3374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Arterial Pressure (MAP)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675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(sysBP + 2×diaBP) /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" y="395935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blood pressure across a full cardiac cycle, capturing both systolic and diastolic contributions to perfusion pressure.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1618488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618488"/>
            <a:ext cx="54864" cy="150876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0328" y="1728216"/>
            <a:ext cx="457200" cy="457200"/>
          </a:xfrm>
          <a:prstGeom prst="oval">
            <a:avLst/>
          </a:prstGeom>
          <a:solidFill>
            <a:srgbClr val="0D9E8A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13832" y="1709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× Cigarettes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13832" y="2011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46904" y="2295144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20 cigarettes/day at age 65 carries vastly different risk than at age 30. This term captures the compounding effect of smoking over time.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282696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282696"/>
            <a:ext cx="54864" cy="150876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8" name="Shape 26"/>
          <p:cNvSpPr/>
          <p:nvPr/>
        </p:nvSpPr>
        <p:spPr>
          <a:xfrm>
            <a:off x="4910328" y="3392424"/>
            <a:ext cx="457200" cy="457200"/>
          </a:xfrm>
          <a:prstGeom prst="oval">
            <a:avLst/>
          </a:prstGeom>
          <a:solidFill>
            <a:srgbClr val="0D9E8A"/>
          </a:solidFill>
          <a:ln/>
        </p:spPr>
      </p:sp>
      <p:sp>
        <p:nvSpPr>
          <p:cNvPr id="29" name="Text 27"/>
          <p:cNvSpPr/>
          <p:nvPr/>
        </p:nvSpPr>
        <p:spPr>
          <a:xfrm>
            <a:off x="4910328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13832" y="3374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× Systolic BP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13832" y="3675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7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46904" y="395935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hypertension severity as it degrades over time. Captures the non-linear relationship between aging arteries and blood pressure.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 (MLP Classifier)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70432"/>
            <a:ext cx="2651760" cy="1261872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2651760" cy="64008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(incl. 4 engineered)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90672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55848" y="1170432"/>
            <a:ext cx="2651760" cy="1261872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170432"/>
            <a:ext cx="2651760" cy="64008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47288" y="16276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Neurons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54496" y="1170432"/>
            <a:ext cx="2651760" cy="1261872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170432"/>
            <a:ext cx="2651760" cy="64008"/>
          </a:xfrm>
          <a:prstGeom prst="rect">
            <a:avLst/>
          </a:prstGeom>
          <a:solidFill>
            <a:srgbClr val="14C4AD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2618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16276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Prediction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/ No CVD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1965960" cy="402336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786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24328" y="2578608"/>
            <a:ext cx="1965960" cy="402336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1" name="Text 19"/>
          <p:cNvSpPr/>
          <p:nvPr/>
        </p:nvSpPr>
        <p:spPr>
          <a:xfrm>
            <a:off x="2624328" y="25786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  α=0.01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91456" y="2578608"/>
            <a:ext cx="1965960" cy="402336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5786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Input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58584" y="2578608"/>
            <a:ext cx="1965960" cy="402336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5" name="Text 23"/>
          <p:cNvSpPr/>
          <p:nvPr/>
        </p:nvSpPr>
        <p:spPr>
          <a:xfrm>
            <a:off x="6958584" y="25786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 (15)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154680"/>
            <a:ext cx="384048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644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73.35%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48640" y="403250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1546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154680"/>
            <a:ext cx="3840480" cy="457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26440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41.97%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4937760" y="403250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(Sensitivity)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Random Forest, the ANN struggled with the small, imbalanced tabular data — preferring accuracy over minority-class detection.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Bagging (Bootstrap Aggregating)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128016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73936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all models tested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2560320" cy="457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15568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16.06%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773936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of all models tested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560320" cy="457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115568"/>
            <a:ext cx="2560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1773936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Decision Trees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Bootstrap Aggregating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68880"/>
            <a:ext cx="54864" cy="86868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42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Bagging Works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2834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100 independent Decision Trees on varied random subsets of SMOTE-balanced training data (with replacement), taking a majority vote for the final prediction. High variance in training data reduces overfitting dramatically.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02152"/>
            <a:ext cx="8229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02152"/>
            <a:ext cx="54864" cy="132588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57530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Impact: High Accuracy vs. Dangerous Consensus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+30.19% Accuracy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single Decision Tree  ·  </a:t>
            </a:r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-59.59% Recall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single Decision Tree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Bagging virtually eliminated false alarms (near-perfect specificity) but the 'safe' majority vote caused it to miss 84% of actual heart disease cases — proving single pruned trees are better for minority patient capture.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What Drives CVD?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77640" cy="214884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214884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16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Finding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highly pruned tree (α=0.005) dropped ALL complex features, proving 10-year CVD risk can be predicted by just two variables: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2148840"/>
            <a:ext cx="3383280" cy="384048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148840"/>
            <a:ext cx="2707639" cy="384048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80.03%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679192"/>
            <a:ext cx="3383280" cy="384048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2679192"/>
            <a:ext cx="675641" cy="384048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7249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  19.97%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143000"/>
            <a:ext cx="3977640" cy="214884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43000"/>
            <a:ext cx="54864" cy="214884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1216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Top 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10328" y="1600200"/>
            <a:ext cx="3383280" cy="2743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18" name="Shape 16"/>
          <p:cNvSpPr/>
          <p:nvPr/>
        </p:nvSpPr>
        <p:spPr>
          <a:xfrm>
            <a:off x="4910328" y="1600200"/>
            <a:ext cx="3383280" cy="2743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19" name="Text 17"/>
          <p:cNvSpPr/>
          <p:nvPr/>
        </p:nvSpPr>
        <p:spPr>
          <a:xfrm>
            <a:off x="4965192" y="16367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  24.1%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10328" y="1947672"/>
            <a:ext cx="3383280" cy="2743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0328" y="1947672"/>
            <a:ext cx="2049622" cy="27432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1984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Systolic BP  14.6%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0328" y="2295144"/>
            <a:ext cx="3383280" cy="2743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0328" y="2295144"/>
            <a:ext cx="1333658" cy="274320"/>
          </a:xfrm>
          <a:prstGeom prst="rect">
            <a:avLst/>
          </a:prstGeom>
          <a:solidFill>
            <a:srgbClr val="F59E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65192" y="23317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Total Cholesterol  9.5%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0328" y="2642616"/>
            <a:ext cx="3383280" cy="2743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7" name="Shape 25"/>
          <p:cNvSpPr/>
          <p:nvPr/>
        </p:nvSpPr>
        <p:spPr>
          <a:xfrm>
            <a:off x="4910328" y="2642616"/>
            <a:ext cx="1319620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4965192" y="26791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Diastolic BP  9.4%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10328" y="2990088"/>
            <a:ext cx="3383280" cy="2743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30" name="Shape 28"/>
          <p:cNvSpPr/>
          <p:nvPr/>
        </p:nvSpPr>
        <p:spPr>
          <a:xfrm>
            <a:off x="4910328" y="2990088"/>
            <a:ext cx="1193273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4965192" y="30266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Fasting Glucose  8.5%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456432"/>
            <a:ext cx="8229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456432"/>
            <a:ext cx="54864" cy="14173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3529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" y="3840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independently converge: Age and Systolic Blood Pressure are the dominant, consistent predictors of 10-year cardiovascular risk. Complex features matter for ensemble models, but simple trees achieve meaningful recall on just these two. This has direct implications for clinical triage — a patient's age and blood pressure alone warrant further cardiovascular screening.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Model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1280160" cy="45720"/>
          </a:xfrm>
          <a:prstGeom prst="rect">
            <a:avLst/>
          </a:prstGeom>
          <a:solidFill>
            <a:srgbClr val="0D9E8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7764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21031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(Sensitivity)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ASCVD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(100 Trees)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(ANN)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7D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Trade-Off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15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inverse relationship exists between Model Accuracy and Patient Safety (Recall).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69080" cy="324612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32461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783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Dangerous Perfectionists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185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(81%) &amp; Gradient Boosting (79.5%)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514600"/>
            <a:ext cx="1188720" cy="5029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Accuracy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2514600"/>
            <a:ext cx="1188720" cy="5029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Specificity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2514600"/>
            <a:ext cx="1188720" cy="5029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~16-18% Recall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3127248"/>
            <a:ext cx="37490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the highest overall accuracy and massive Specificity, practically eliminating false alarms. However, they accomplished this by only catching 16-18% of actual heart disease patients — far too conservative for clinical deployment.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1691640"/>
            <a:ext cx="4069080" cy="3246120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691640"/>
            <a:ext cx="73152" cy="3246120"/>
          </a:xfrm>
          <a:prstGeom prst="rect">
            <a:avLst/>
          </a:prstGeom>
          <a:solidFill>
            <a:srgbClr val="5B8FD6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1783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The Safety Net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192" y="2185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(α=0.005) — Tuned Pruning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65192" y="2514600"/>
            <a:ext cx="1188720" cy="5029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 Accuracy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2514600"/>
            <a:ext cx="1188720" cy="5029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46.4% Specificity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62088" y="2514600"/>
            <a:ext cx="1188720" cy="502920"/>
          </a:xfrm>
          <a:prstGeom prst="rect">
            <a:avLst/>
          </a:prstGeom>
          <a:solidFill>
            <a:srgbClr val="162A52"/>
          </a:solidFill>
          <a:ln/>
        </p:spPr>
      </p:sp>
      <p:sp>
        <p:nvSpPr>
          <p:cNvPr id="25" name="Text 23"/>
          <p:cNvSpPr/>
          <p:nvPr/>
        </p:nvSpPr>
        <p:spPr>
          <a:xfrm>
            <a:off x="7562088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75.6% Recall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65192" y="3127248"/>
            <a:ext cx="37490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clinical inverse — ignoring overall accuracy to successfully capture 75.6% of patients destined for heart disease. By heavily pruning feature noise, it becomes an aggressive safety net for preventative cardiology.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A7D6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 &amp;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61872"/>
            <a:ext cx="3657600" cy="45720"/>
          </a:xfrm>
          <a:prstGeom prst="rect">
            <a:avLst/>
          </a:prstGeom>
          <a:solidFill>
            <a:srgbClr val="0D9E8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898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definitively solves the 'Panicked Doctor' problem — raising diagnostic precision from 15% to ~81%.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8046720" cy="1261872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84832"/>
            <a:ext cx="54864" cy="1261872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6771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1762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1:  First-Line Triage / Screening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24871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Decision Tree  (α=0.005)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417320" y="270662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an aggressive safety net with 75.6% patient capture rate — ideal for preventative cardiology screening where missing sick patients is the primary risk.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8046720" cy="1261872"/>
          </a:xfrm>
          <a:prstGeom prst="rect">
            <a:avLst/>
          </a:prstGeom>
          <a:solidFill>
            <a:srgbClr val="0D1F4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3502152"/>
            <a:ext cx="54864" cy="1261872"/>
          </a:xfrm>
          <a:prstGeom prst="rect">
            <a:avLst/>
          </a:prstGeom>
          <a:solidFill>
            <a:srgbClr val="0D9E8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8503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17320" y="35935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2:  Diagnostic Assistant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17320" y="39044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417320" y="412394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stable ~67% Accuracy and ~61% Recall, it provides a highly interpretable, statistically balanced second opinion that clinicians can reason about from coefficients.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10-Year CVD Risk: A Machine Learning Approach</dc:title>
  <dc:subject>PptxGenJS Presentation</dc:subject>
  <dc:creator>PptxGenJS</dc:creator>
  <cp:lastModifiedBy>PptxGenJS</cp:lastModifiedBy>
  <cp:revision>1</cp:revision>
  <dcterms:created xsi:type="dcterms:W3CDTF">2026-04-26T06:31:07Z</dcterms:created>
  <dcterms:modified xsi:type="dcterms:W3CDTF">2026-04-26T06:31:07Z</dcterms:modified>
</cp:coreProperties>
</file>