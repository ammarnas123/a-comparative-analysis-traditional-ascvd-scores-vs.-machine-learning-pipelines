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10-Year Cardiovascular Disease Risk: A Machine Learning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Analysis: Traditional ASCVD Scores vs. Machine Learning Pipelines</a:t>
            </a:r>
          </a:p>
          <a:p>
            <a:r>
              <a:t>Health Data Science Capstone Project</a:t>
            </a:r>
          </a:p>
          <a:p>
            <a:r>
              <a:t>[Your Name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Clinical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Clinical Reality:</a:t>
            </a:r>
          </a:p>
          <a:p>
            <a:pPr lvl="1"/>
            <a:r>
              <a:t>Cardiovascular disease (CVD) is a leading global cause of mortality.</a:t>
            </a:r>
          </a:p>
          <a:p>
            <a:r>
              <a:t>2. The Limitation of Traditional Tools:</a:t>
            </a:r>
          </a:p>
          <a:p>
            <a:pPr lvl="1"/>
            <a:r>
              <a:t>Standardized calculators (like the Framingham Risk Score / ASCVD) use linear assumptions to predict a patient’s 10-year risk.</a:t>
            </a:r>
          </a:p>
          <a:p>
            <a:pPr lvl="1"/>
            <a:r>
              <a:t>These generalized models often flag perfectly healthy patients as high-risk (false positives) or miss sub-populations with non-linear clinical interactions.</a:t>
            </a:r>
          </a:p>
          <a:p>
            <a:r>
              <a:t>3. Capstone Objective:</a:t>
            </a:r>
          </a:p>
          <a:p>
            <a:pPr lvl="1"/>
            <a:r>
              <a:t>Leverage 10-year longitudinal data to map the true deviation of traditional risk scores, and evaluate whether Machine Learning algorithms can achieve better clinical accuracy and recall.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The Framingham Heart Study Dataset.</a:t>
            </a:r>
          </a:p>
          <a:p>
            <a:r>
              <a:t>Sample Size: 4,240 participants.</a:t>
            </a:r>
          </a:p>
          <a:p>
            <a:r>
              <a:t>Target Variable: `TenYearCHD` (Binary outcome: 1 if the patient developed Coronary Heart Disease within 10 years).</a:t>
            </a:r>
          </a:p>
          <a:p>
            <a:r>
              <a:t>Exploratory Data Analysis (EDA) Insights:</a:t>
            </a:r>
          </a:p>
          <a:p>
            <a:pPr lvl="1"/>
            <a:r>
              <a:t>Class Imbalance: Only ~15% of the dataset (644 patients) actually developed CVD. The remaining ~85% remained healthy. This massive imbalance required specialized resampling techniques.</a:t>
            </a:r>
          </a:p>
          <a:p>
            <a:pPr lvl="1"/>
            <a:r>
              <a:t>Features Covered: Demographics (Age, Sex), Behavioral (Smoking), Medical History (BP Meds, Diabetes), and Clinical Metrics (Total Cholesterol, Systolic BP, BMI, Glucose).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Preprocessing: KNN Imputation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Challenge: The dataset contained 388 missing Glucose readings, 105 missing Education values, and 50 missing Total Cholesterol inputs.</a:t>
            </a:r>
          </a:p>
          <a:p>
            <a:r>
              <a:t>Methodology: K-Nearest Neighbors (KNN) Imputation</a:t>
            </a:r>
          </a:p>
          <a:p>
            <a:pPr lvl="1"/>
            <a:r>
              <a:t>Instead of dropping valuable patient records or flatly inserting the dataset 'mean' (which can skew medical distributions), we used KNN.</a:t>
            </a:r>
          </a:p>
          <a:p>
            <a:pPr lvl="1"/>
            <a:r>
              <a:t>Data was first scaled using `StandardScaler` to prevent variables with large values (like Glucose) from mathematically dominating distance calculations.</a:t>
            </a:r>
          </a:p>
          <a:p>
            <a:pPr lvl="1"/>
            <a:r>
              <a:t>Patients with missing values were matched to their 5 most clinically similar neighbors (`n_neighbors=5`), predicting their exact glucose or cholesterol level based on physiological similarity.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Clinical Baseline (ASCVD / FRS)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establish a baseline, we calculated the 10-year continuous risk probabilities using an approximation of the Framingham Risk logistic coefficients.</a:t>
            </a:r>
          </a:p>
          <a:p>
            <a:r>
              <a:t>Threshold: A &gt;15% probability classified the patient as High Risk (CVD=1).</a:t>
            </a:r>
          </a:p>
          <a:p>
            <a:r>
              <a:t>Results: 'The Panicked Doctor Effect'</a:t>
            </a:r>
          </a:p>
          <a:p>
            <a:pPr lvl="1"/>
            <a:r>
              <a:t>Sensitivity (Recall): 99.84%. The traditional tool caught almost every single sick patient...</a:t>
            </a:r>
          </a:p>
          <a:p>
            <a:pPr lvl="1"/>
            <a:r>
              <a:t>Accuracy: 15.28%. ...but it did so by diagnosing 4,234 out of 4,240 perfectly healthy patients as High Risk (False Positives).</a:t>
            </a:r>
          </a:p>
          <a:p>
            <a:pPr lvl="1"/>
            <a:r>
              <a:t>Conclusion: While statistically 'safe' (no deaths missed), the 3,591 false alarms render it physically unusable in a modern hospital due to resource waste and patient trauma.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Class Imbalance &amp; 70/30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Splitting Strategy:</a:t>
            </a:r>
          </a:p>
          <a:p>
            <a:pPr lvl="1"/>
            <a:r>
              <a:t>A strictly stratified 70% Training / 30% Testing split was used.</a:t>
            </a:r>
          </a:p>
          <a:p>
            <a:pPr lvl="1"/>
            <a:r>
              <a:t>Models are ONLY evaluated on the unseen 30% test set to measure real-world diagnostic performance.</a:t>
            </a:r>
          </a:p>
          <a:p>
            <a:r>
              <a:t>The Target Imbalance Problem:</a:t>
            </a:r>
          </a:p>
          <a:p>
            <a:pPr lvl="1"/>
            <a:r>
              <a:t>Because 85% of patients didn't get sick, standard algorithms try to artificially boost their own accuracy by blindly predicting 'Healthy' 100% of the time.</a:t>
            </a:r>
          </a:p>
          <a:p>
            <a:r>
              <a:t>The Solution: SMOTE</a:t>
            </a:r>
          </a:p>
          <a:p>
            <a:pPr lvl="1"/>
            <a:r>
              <a:t>Synthetic Minority Over-sampling Technique (SMOTE) was applied ONLY to the training set.</a:t>
            </a:r>
          </a:p>
          <a:p>
            <a:pPr lvl="1"/>
            <a:r>
              <a:t>This synthesizes artificial 'sick' patient data mathematically, forcing the models to learn what high-risk physiology looks like.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Baseline Testing: KNN &amp;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Hyperparameter Tuning using GridSearchCV optimized for AUC-ROC (Distinguishing sick from healthy).</a:t>
            </a:r>
          </a:p>
          <a:p>
            <a:r>
              <a:t>1. K-Nearest Neighbors (KNN)</a:t>
            </a:r>
          </a:p>
          <a:p>
            <a:pPr lvl="1"/>
            <a:r>
              <a:t>GridSearchCV swept K=[3,5,7,9,11,15].</a:t>
            </a:r>
          </a:p>
          <a:p>
            <a:pPr lvl="1"/>
            <a:r>
              <a:t>Optimal K=5 achieved 64.9% Accuracy and 48.2% Recall. Drastically reduced false alarms but missed half the sick patients.</a:t>
            </a:r>
          </a:p>
          <a:p>
            <a:r>
              <a:t>2. Decision Tree Classifier</a:t>
            </a:r>
          </a:p>
          <a:p>
            <a:pPr lvl="1"/>
            <a:r>
              <a:t>Optimized for Cost-Complexity Pruning (Alpha). Tested [0.0, 0.001, 0.005, 0.01, 0.02].</a:t>
            </a:r>
          </a:p>
          <a:p>
            <a:pPr lvl="1"/>
            <a:r>
              <a:t>Optimal Alpha=0.005 prevented severe overfitting.</a:t>
            </a:r>
          </a:p>
          <a:p>
            <a:pPr lvl="1"/>
            <a:r>
              <a:t>Result: 50.8% Accuracy, 75.6% Recall. The Decision Tree mathematically sacrificed overall accuracy to prioritize catching high-risk patients securely.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Ensembles &amp;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Logistic Regression (The Clinical Standard)</a:t>
            </a:r>
          </a:p>
          <a:p>
            <a:pPr lvl="1"/>
            <a:r>
              <a:t>Weighted utilizing `class_weight='balanced'` instead of SMOTE for direct clinical coefficient interpretability.</a:t>
            </a:r>
          </a:p>
          <a:p>
            <a:pPr lvl="1"/>
            <a:r>
              <a:t>Results: 66.8% Accuracy | 61.1% Recall. The most stable, middle-ground performer.</a:t>
            </a:r>
          </a:p>
          <a:p>
            <a:r>
              <a:t>2. Random Forest</a:t>
            </a:r>
          </a:p>
          <a:p>
            <a:pPr lvl="1"/>
            <a:r>
              <a:t>An ensemble of 100 trees restricted to depth 7. Resistant to overfitting.</a:t>
            </a:r>
          </a:p>
          <a:p>
            <a:pPr lvl="1"/>
            <a:r>
              <a:t>Results: 74.1% Accuracy | 43.5% Recall.</a:t>
            </a:r>
          </a:p>
          <a:p>
            <a:r>
              <a:t>3. Gradient Boosting (GBM)</a:t>
            </a:r>
          </a:p>
          <a:p>
            <a:pPr lvl="1"/>
            <a:r>
              <a:t>A sequential ensemble that iteratively corrects previous tree errors.</a:t>
            </a:r>
          </a:p>
          <a:p>
            <a:pPr lvl="1"/>
            <a:r>
              <a:t>Results: 79.6% Accuracy | 18.1% Recall.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un-block accuracy limits, we mathematically engineered 4 new physiological markers that are difficult for basic ML models to deduce on their own.</a:t>
            </a:r>
          </a:p>
          <a:p>
            <a:r>
              <a:t>1. Pulse Pressure: (`sysBP - diaBP`). Indicates aortic stiffness.</a:t>
            </a:r>
          </a:p>
          <a:p>
            <a:r>
              <a:t>2. Mean Arterial Pressure (MAP): Average blood pressure in a cardiac cycle.</a:t>
            </a:r>
          </a:p>
          <a:p>
            <a:r>
              <a:t>3. Age x Cigarettes: Interaction term. Smoking 20 cigarettes a day at Age 65 is wildly different than at Age 30.</a:t>
            </a:r>
          </a:p>
          <a:p>
            <a:r>
              <a:t>4. Age x sysBP: Interaction term mapping hypertension degradation over time.</a:t>
            </a:r>
          </a:p>
          <a:p>
            <a:r>
              <a:t>Results of Engineering: When re-fed into the Decision Tree, accuracy jumped massively from 50.8% to 70.8%, but heavily degraded its 75% recall.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Neural Networks (MLP Classifier)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Architecture:</a:t>
            </a:r>
          </a:p>
          <a:p>
            <a:pPr lvl="1"/>
            <a:r>
              <a:t>A Multi-Layer Perceptron (MLP) was constructed with a hidden layer of 50 neurons.</a:t>
            </a:r>
          </a:p>
          <a:p>
            <a:pPr lvl="1"/>
            <a:r>
              <a:t>Activation: 'ReLu' | Solver: 'Adam' (Adaptive Moment Estimation) | Regularization: L2 Alpha=0.01.</a:t>
            </a:r>
          </a:p>
          <a:p>
            <a:pPr lvl="1"/>
            <a:r>
              <a:t>The complete dataset (including the 4 new engineered features) was strictly scaled via `StandardScaler` to ensure swift gradient descent convergence.</a:t>
            </a:r>
          </a:p>
          <a:p>
            <a:r>
              <a:t>Results: 73.35% Accuracy | 41.97% Recall.</a:t>
            </a:r>
          </a:p>
          <a:p>
            <a:pPr lvl="1"/>
            <a:r>
              <a:t>Conclusion: Like the Random Forest, the ANN struggled with the small, imbalanced tabular data scale, preferring to increase accuracy by sacrificing minority class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Bagging (Bootstrap Aggregating)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Mechanism:</a:t>
            </a:r>
          </a:p>
          <a:p>
            <a:pPr lvl="1"/>
            <a:r>
              <a:t>Trained 100 independent Decision Trees on varied random subsets of the SMOTE-balanced training data (with replacement), taking a 'majority vote' for the final prediction.</a:t>
            </a:r>
          </a:p>
          <a:p>
            <a:r>
              <a:t>Clinical Impact: High Accuracy vs. Dangerous Consensus</a:t>
            </a:r>
          </a:p>
          <a:p>
            <a:pPr lvl="1"/>
            <a:r>
              <a:t>Result: 81.05% Accuracy (The highest of all models tested) | 16.06% Recall (The lowest of all models tested).</a:t>
            </a:r>
          </a:p>
          <a:p>
            <a:pPr lvl="1"/>
            <a:r>
              <a:t>Compared to the single optimized Decision Tree, Accuracy jumped by +30.19%, but Recall crashed by -59.59%.</a:t>
            </a:r>
          </a:p>
          <a:p>
            <a:pPr lvl="1"/>
            <a:r>
              <a:t>Interpretation: Bagging violently reduced variance/overfitting, achieving near-perfect specificity (no false alarms). However, the 'safe' majority vote of the 100 trees caused it to miss 84% of actual heart disease cases, proving single pruned trees are better for minority patient capture.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Importance: What drives CVD?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simple, highly pruned Decision tree (Alpha=0.005) completely dropped all complex features, proving that 10-year CVD risk can be overwhelmingly predicted by just two integers:</a:t>
            </a:r>
          </a:p>
          <a:p>
            <a:pPr lvl="1"/>
            <a:r>
              <a:t>1. Age (80.03% Importance in predicting CVD)</a:t>
            </a:r>
          </a:p>
          <a:p>
            <a:pPr lvl="1"/>
            <a:r>
              <a:t>2. Systolic Blood Pressure (19.97% Importance)</a:t>
            </a:r>
          </a:p>
          <a:p>
            <a:r>
              <a:t>The Random Forest ensemble agreed, strictly ranking the Top 5 Drivers of 10-Year Heart Disease as:</a:t>
            </a:r>
          </a:p>
          <a:p>
            <a:pPr lvl="1"/>
            <a:r>
              <a:t>1. Age (24.1%)</a:t>
            </a:r>
          </a:p>
          <a:p>
            <a:pPr lvl="1"/>
            <a:r>
              <a:t>2. Systolic Blood Pressure (14.6%)</a:t>
            </a:r>
          </a:p>
          <a:p>
            <a:pPr lvl="1"/>
            <a:r>
              <a:t>3. Total Cholesterol (9.5%)</a:t>
            </a:r>
          </a:p>
          <a:p>
            <a:pPr lvl="1"/>
            <a:r>
              <a:t>4. Diastolic Blood Pressure (9.4%)</a:t>
            </a:r>
          </a:p>
          <a:p>
            <a:pPr lvl="1"/>
            <a:r>
              <a:t>5. Fasting Glucose (8.5%)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Model Performance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Sensitivity (Recall)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Specificity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Traditional ASCVD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Decision Tree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46.43%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Engineered 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73.20%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67.84%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79.61%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90.55%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Bagging (100 Trees)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92.65%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Neural Network (ANN)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78.96%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Clinical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revealed a strict inverse relationship between Model Accuracy and Patient Safety (Recall).</a:t>
            </a:r>
          </a:p>
          <a:p>
            <a:pPr lvl="1"/>
            <a:r>
              <a:t>The 'Dangerous Perfectionists': Bagging (81%) and Gradient Boosting (79.5%) achieved the highest overall test accuracy and massive Specificity (90%+), practically eliminating false alarms.</a:t>
            </a:r>
          </a:p>
          <a:p>
            <a:pPr lvl="1"/>
            <a:r>
              <a:t>However, they accomplished this by only catching ~16-18% of actual heart disease patients, acting far too conservatively for clinical deployment.</a:t>
            </a:r>
          </a:p>
          <a:p>
            <a:pPr lvl="1"/>
            <a:r>
              <a:t>The 'Safety Net': The perfectly tuned Decision Tree (Alpha 0.005) acted as the inverse. By heavily pruning feature noise, it ignored overall accuracy (50.8%) to successfully capture 75.6% of patients destined for heart disease.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Machine Learning definitively solves the 'Panicked Doctor' problem of Traditional ASCVD estimators, raising diagnostic precision mathematically from 15% up to ~81%.</a:t>
            </a:r>
          </a:p>
          <a:p>
            <a:r>
              <a:t>Final Model Selection depends heavily on the intended Hospital deployment strategy:</a:t>
            </a:r>
          </a:p>
          <a:p>
            <a:pPr lvl="1"/>
            <a:r>
              <a:t>Recommendation 1 (First-Line Triage/Screening Tool): Deploy the highly pruned Decision Tree. It acts as an aggressive safety net, prioritizing a 75% patient capture rate perfectly suited for preventative cardiology.</a:t>
            </a:r>
          </a:p>
          <a:p>
            <a:pPr lvl="1"/>
            <a:r>
              <a:t>Recommendation 2 (Diagnostic Assistant): Employ Logistic Regression. With its stable ~67% Accuracy and ~61% Recall, it acts as a highly interpretable 'middle-ground' tool for doctors looking for a statistically balanced second opinion.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